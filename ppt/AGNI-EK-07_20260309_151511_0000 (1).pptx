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Droid Serif Bold" charset="1" panose="02020800060500020200"/>
      <p:regular r:id="rId12"/>
    </p:embeddedFont>
    <p:embeddedFont>
      <p:font typeface="Droid Serif" charset="1" panose="02020600060500020200"/>
      <p:regular r:id="rId13"/>
    </p:embeddedFont>
    <p:embeddedFont>
      <p:font typeface="Canva Sans Bold" charset="1" panose="020B0803030501040103"/>
      <p:regular r:id="rId14"/>
    </p:embeddedFont>
    <p:embeddedFont>
      <p:font typeface="Canva Sans" charset="1" panose="020B0503030501040103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jpe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jpeg" Type="http://schemas.openxmlformats.org/officeDocument/2006/relationships/image"/><Relationship Id="rId7" Target="../media/image8.gif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jpe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jpe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jpeg" Type="http://schemas.openxmlformats.org/officeDocument/2006/relationships/image"/><Relationship Id="rId7" Target="../media/image1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80480"/>
            <a:ext cx="18288000" cy="1094804"/>
          </a:xfrm>
          <a:custGeom>
            <a:avLst/>
            <a:gdLst/>
            <a:ahLst/>
            <a:cxnLst/>
            <a:rect r="r" b="b" t="t" l="l"/>
            <a:pathLst>
              <a:path h="1094804" w="18288000">
                <a:moveTo>
                  <a:pt x="0" y="0"/>
                </a:moveTo>
                <a:lnTo>
                  <a:pt x="18288000" y="0"/>
                </a:lnTo>
                <a:lnTo>
                  <a:pt x="18288000" y="1094804"/>
                </a:lnTo>
                <a:lnTo>
                  <a:pt x="0" y="1094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9637871"/>
            <a:ext cx="18258234" cy="649129"/>
          </a:xfrm>
          <a:custGeom>
            <a:avLst/>
            <a:gdLst/>
            <a:ahLst/>
            <a:cxnLst/>
            <a:rect r="r" b="b" t="t" l="l"/>
            <a:pathLst>
              <a:path h="649129" w="18258234">
                <a:moveTo>
                  <a:pt x="0" y="0"/>
                </a:moveTo>
                <a:lnTo>
                  <a:pt x="18258234" y="0"/>
                </a:lnTo>
                <a:lnTo>
                  <a:pt x="18258234" y="649129"/>
                </a:lnTo>
                <a:lnTo>
                  <a:pt x="0" y="6491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243112" y="4448594"/>
            <a:ext cx="7801813" cy="1592875"/>
            <a:chOff x="0" y="0"/>
            <a:chExt cx="10402418" cy="21238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02443" cy="2123821"/>
            </a:xfrm>
            <a:custGeom>
              <a:avLst/>
              <a:gdLst/>
              <a:ahLst/>
              <a:cxnLst/>
              <a:rect r="r" b="b" t="t" l="l"/>
              <a:pathLst>
                <a:path h="2123821" w="10402443">
                  <a:moveTo>
                    <a:pt x="0" y="0"/>
                  </a:moveTo>
                  <a:lnTo>
                    <a:pt x="10402443" y="0"/>
                  </a:lnTo>
                  <a:lnTo>
                    <a:pt x="10402443" y="2123821"/>
                  </a:lnTo>
                  <a:lnTo>
                    <a:pt x="0" y="21238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14000"/>
              </a:blip>
              <a:stretch>
                <a:fillRect l="0" t="-45436" r="0" b="-45437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4533199" y="275032"/>
            <a:ext cx="4731094" cy="3122522"/>
          </a:xfrm>
          <a:custGeom>
            <a:avLst/>
            <a:gdLst/>
            <a:ahLst/>
            <a:cxnLst/>
            <a:rect r="r" b="b" t="t" l="l"/>
            <a:pathLst>
              <a:path h="3122522" w="4731094">
                <a:moveTo>
                  <a:pt x="0" y="0"/>
                </a:moveTo>
                <a:lnTo>
                  <a:pt x="4731094" y="0"/>
                </a:lnTo>
                <a:lnTo>
                  <a:pt x="4731094" y="3122521"/>
                </a:lnTo>
                <a:lnTo>
                  <a:pt x="0" y="312252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2751122"/>
            <a:ext cx="4843701" cy="47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8"/>
              </a:lnSpc>
            </a:pPr>
            <a:r>
              <a:rPr lang="en-US" sz="2400" b="true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Problem Statement Overview :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7127302"/>
            <a:ext cx="16347403" cy="1987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59"/>
              </a:lnSpc>
            </a:pPr>
            <a:r>
              <a:rPr lang="en-US" sz="2632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A Complete Self Autonomous Advanced Road Emergency Management System coordinated, technology-driven framework designed to detect, respond to, and clear traffic incidents, disasters, or accidents to enhance safety and restore traffic flow. These systems utilize real-time data, AI-powered vehicle detection, and intelligent signaling to optimize emergency vehicle routes and minimize response times.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153533" y="39824"/>
            <a:ext cx="2650226" cy="682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Title Slide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92521" y="965277"/>
            <a:ext cx="12522025" cy="547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4"/>
              </a:lnSpc>
            </a:pPr>
            <a:r>
              <a:rPr lang="en-US" sz="3209" b="true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Project Name: </a:t>
            </a:r>
            <a:r>
              <a:rPr lang="en-US" sz="3209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 Road Accident Assistance Mechanism (RAAM)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167219" y="1755091"/>
            <a:ext cx="8201070" cy="531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085" b="true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Team Name:</a:t>
            </a:r>
            <a:r>
              <a:rPr lang="en-US" sz="3085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 AGNI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6590776"/>
            <a:ext cx="3334560" cy="431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Solution Overview: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175641" y="9879254"/>
            <a:ext cx="1044988" cy="304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5"/>
              </a:lnSpc>
            </a:pPr>
            <a:r>
              <a:rPr lang="en-US" sz="1518" b="true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Page 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2229009"/>
            <a:ext cx="14383636" cy="464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 b="true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Problem Statement ID:</a:t>
            </a:r>
            <a:r>
              <a:rPr lang="en-US" sz="2699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 EK-07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3237828"/>
            <a:ext cx="15870046" cy="2809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66"/>
              </a:lnSpc>
            </a:pPr>
            <a:r>
              <a:rPr lang="en-US" sz="2638" spc="147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Vehicle owners facing breakdowns often struggle to explain </a:t>
            </a:r>
            <a:r>
              <a:rPr lang="en-US" sz="2638" spc="147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their issue clearly and share accurate location details, causing delays in roadside assistance. Traditional support systems rely on manual calls and inefficient dispatch coordination.</a:t>
            </a:r>
          </a:p>
          <a:p>
            <a:pPr algn="just">
              <a:lnSpc>
                <a:spcPts val="3166"/>
              </a:lnSpc>
            </a:pPr>
          </a:p>
          <a:p>
            <a:pPr algn="just">
              <a:lnSpc>
                <a:spcPts val="3166"/>
              </a:lnSpc>
            </a:pPr>
            <a:r>
              <a:rPr lang="en-US" b="true" sz="2638" spc="147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Problems</a:t>
            </a:r>
            <a:r>
              <a:rPr lang="en-US" sz="2638" spc="147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:</a:t>
            </a:r>
          </a:p>
          <a:p>
            <a:pPr algn="just">
              <a:lnSpc>
                <a:spcPts val="3166"/>
              </a:lnSpc>
            </a:pPr>
            <a:r>
              <a:rPr lang="en-US" sz="2638" spc="147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1.Difficulty in accurately describing vehicle issues and sharing precise location.</a:t>
            </a:r>
          </a:p>
          <a:p>
            <a:pPr algn="just">
              <a:lnSpc>
                <a:spcPts val="3166"/>
              </a:lnSpc>
            </a:pPr>
            <a:r>
              <a:rPr lang="en-US" sz="2638" spc="147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2.Delayed assistance due to manual dispatch and lack of real time mechanic allocation.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80480"/>
            <a:ext cx="18288000" cy="1094804"/>
          </a:xfrm>
          <a:custGeom>
            <a:avLst/>
            <a:gdLst/>
            <a:ahLst/>
            <a:cxnLst/>
            <a:rect r="r" b="b" t="t" l="l"/>
            <a:pathLst>
              <a:path h="1094804" w="18288000">
                <a:moveTo>
                  <a:pt x="0" y="0"/>
                </a:moveTo>
                <a:lnTo>
                  <a:pt x="18288000" y="0"/>
                </a:lnTo>
                <a:lnTo>
                  <a:pt x="18288000" y="1094804"/>
                </a:lnTo>
                <a:lnTo>
                  <a:pt x="0" y="1094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9637871"/>
            <a:ext cx="18258234" cy="649129"/>
          </a:xfrm>
          <a:custGeom>
            <a:avLst/>
            <a:gdLst/>
            <a:ahLst/>
            <a:cxnLst/>
            <a:rect r="r" b="b" t="t" l="l"/>
            <a:pathLst>
              <a:path h="649129" w="18258234">
                <a:moveTo>
                  <a:pt x="0" y="0"/>
                </a:moveTo>
                <a:lnTo>
                  <a:pt x="18258234" y="0"/>
                </a:lnTo>
                <a:lnTo>
                  <a:pt x="18258234" y="649129"/>
                </a:lnTo>
                <a:lnTo>
                  <a:pt x="0" y="6491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93346" y="813684"/>
            <a:ext cx="17671543" cy="8091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0"/>
              </a:lnSpc>
            </a:pPr>
            <a:r>
              <a:rPr lang="en-US" sz="2300" b="true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Proposed Solution</a:t>
            </a:r>
          </a:p>
          <a:p>
            <a:pPr algn="l">
              <a:lnSpc>
                <a:spcPts val="4600"/>
              </a:lnSpc>
            </a:pPr>
            <a:r>
              <a:rPr lang="en-US" sz="2300" b="true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1. Idea / System Overview</a:t>
            </a:r>
          </a:p>
          <a:p>
            <a:pPr algn="l">
              <a:lnSpc>
                <a:spcPts val="4600"/>
              </a:lnSpc>
            </a:pPr>
            <a:r>
              <a:rPr lang="en-US" sz="2300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A</a:t>
            </a:r>
            <a:r>
              <a:rPr lang="en-US" sz="2300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 Voice-First V2I Road Assistance System using Transformer-based NLP for intent and location extraction. Supports Dual-Mode Connectivity:</a:t>
            </a:r>
          </a:p>
          <a:p>
            <a:pPr algn="l" marL="496571" indent="-248285" lvl="1">
              <a:lnSpc>
                <a:spcPts val="460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Online: HTTPS + JSON payloads</a:t>
            </a:r>
          </a:p>
          <a:p>
            <a:pPr algn="l" marL="496571" indent="-248285" lvl="1">
              <a:lnSpc>
                <a:spcPts val="460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Offline: ESP32 WiFi Self-Healing Mesh with multi-hop packet forwarding (VANET)</a:t>
            </a:r>
          </a:p>
          <a:p>
            <a:pPr algn="l">
              <a:lnSpc>
                <a:spcPts val="4600"/>
              </a:lnSpc>
            </a:pPr>
            <a:r>
              <a:rPr lang="en-US" sz="2300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A Cloud LLM Agent performs semantic parsing and auto-dispatches requests to Garages, Fuel Stations, or NHAI.</a:t>
            </a:r>
          </a:p>
          <a:p>
            <a:pPr algn="l">
              <a:lnSpc>
                <a:spcPts val="4600"/>
              </a:lnSpc>
            </a:pPr>
            <a:r>
              <a:rPr lang="en-US" sz="2300" b="true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2. Problem Addressed</a:t>
            </a:r>
          </a:p>
          <a:p>
            <a:pPr algn="l" marL="496571" indent="-248285" lvl="1">
              <a:lnSpc>
                <a:spcPts val="460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Cognitive Load Reduction: Zero-UI, hands-free Natural Language Interaction for emergency scenarios.</a:t>
            </a:r>
          </a:p>
          <a:p>
            <a:pPr algn="l" marL="496571" indent="-248285" lvl="1">
              <a:lnSpc>
                <a:spcPts val="460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Dead-Zone Resilience: WiFi Mesh Networking ensures reliable data delivery without cellular dependency.</a:t>
            </a:r>
          </a:p>
          <a:p>
            <a:pPr algn="l">
              <a:lnSpc>
                <a:spcPts val="4600"/>
              </a:lnSpc>
            </a:pPr>
            <a:r>
              <a:rPr lang="en-US" sz="2300" b="true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3. Innovation &amp; Uniqueness</a:t>
            </a:r>
          </a:p>
          <a:p>
            <a:pPr algn="l" marL="496571" indent="-248285" lvl="1">
              <a:lnSpc>
                <a:spcPts val="460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Hybrid Edge–Cloud Architecture: WiFi offline hopping + Generative AI inference.</a:t>
            </a:r>
          </a:p>
          <a:p>
            <a:pPr algn="l" marL="496571" indent="-248285" lvl="1">
              <a:lnSpc>
                <a:spcPts val="460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Semantic Dispatch Engine: Context-aware routing over keywordbased systems for accurate emergency handling.</a:t>
            </a:r>
          </a:p>
          <a:p>
            <a:pPr algn="l">
              <a:lnSpc>
                <a:spcPts val="4600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5243112" y="4448594"/>
            <a:ext cx="7801813" cy="1592875"/>
            <a:chOff x="0" y="0"/>
            <a:chExt cx="10402418" cy="212383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402443" cy="2123821"/>
            </a:xfrm>
            <a:custGeom>
              <a:avLst/>
              <a:gdLst/>
              <a:ahLst/>
              <a:cxnLst/>
              <a:rect r="r" b="b" t="t" l="l"/>
              <a:pathLst>
                <a:path h="2123821" w="10402443">
                  <a:moveTo>
                    <a:pt x="0" y="0"/>
                  </a:moveTo>
                  <a:lnTo>
                    <a:pt x="10402443" y="0"/>
                  </a:lnTo>
                  <a:lnTo>
                    <a:pt x="10402443" y="2123821"/>
                  </a:lnTo>
                  <a:lnTo>
                    <a:pt x="0" y="21238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14000"/>
              </a:blip>
              <a:stretch>
                <a:fillRect l="0" t="-45436" r="0" b="-45437"/>
              </a:stretch>
            </a:blipFill>
          </p:spPr>
        </p:sp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rcRect l="0" t="115" r="0" b="115"/>
          <a:stretch>
            <a:fillRect/>
          </a:stretch>
        </p:blipFill>
        <p:spPr>
          <a:xfrm flipH="false" flipV="false" rot="0">
            <a:off x="14069766" y="212164"/>
            <a:ext cx="3598229" cy="1589218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8175641" y="9879254"/>
            <a:ext cx="1044988" cy="304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5"/>
              </a:lnSpc>
            </a:pPr>
            <a:r>
              <a:rPr lang="en-US" sz="1518" b="true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Page 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364720" y="39824"/>
            <a:ext cx="3711835" cy="682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Solution Details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80480"/>
            <a:ext cx="18288000" cy="1094804"/>
          </a:xfrm>
          <a:custGeom>
            <a:avLst/>
            <a:gdLst/>
            <a:ahLst/>
            <a:cxnLst/>
            <a:rect r="r" b="b" t="t" l="l"/>
            <a:pathLst>
              <a:path h="1094804" w="18288000">
                <a:moveTo>
                  <a:pt x="0" y="0"/>
                </a:moveTo>
                <a:lnTo>
                  <a:pt x="18288000" y="0"/>
                </a:lnTo>
                <a:lnTo>
                  <a:pt x="18288000" y="1094804"/>
                </a:lnTo>
                <a:lnTo>
                  <a:pt x="0" y="1094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9637871"/>
            <a:ext cx="18258234" cy="649129"/>
          </a:xfrm>
          <a:custGeom>
            <a:avLst/>
            <a:gdLst/>
            <a:ahLst/>
            <a:cxnLst/>
            <a:rect r="r" b="b" t="t" l="l"/>
            <a:pathLst>
              <a:path h="649129" w="18258234">
                <a:moveTo>
                  <a:pt x="0" y="0"/>
                </a:moveTo>
                <a:lnTo>
                  <a:pt x="18258234" y="0"/>
                </a:lnTo>
                <a:lnTo>
                  <a:pt x="18258234" y="649129"/>
                </a:lnTo>
                <a:lnTo>
                  <a:pt x="0" y="6491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44269" y="5066724"/>
            <a:ext cx="13345832" cy="4773854"/>
          </a:xfrm>
          <a:custGeom>
            <a:avLst/>
            <a:gdLst/>
            <a:ahLst/>
            <a:cxnLst/>
            <a:rect r="r" b="b" t="t" l="l"/>
            <a:pathLst>
              <a:path h="4773854" w="13345832">
                <a:moveTo>
                  <a:pt x="0" y="0"/>
                </a:moveTo>
                <a:lnTo>
                  <a:pt x="13345832" y="0"/>
                </a:lnTo>
                <a:lnTo>
                  <a:pt x="13345832" y="4773853"/>
                </a:lnTo>
                <a:lnTo>
                  <a:pt x="0" y="477385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30165" r="0" b="-25868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15649" y="1086433"/>
            <a:ext cx="19672891" cy="3980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08"/>
              </a:lnSpc>
            </a:pPr>
            <a:r>
              <a:rPr lang="en-US" sz="235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Technologies to be used (e.g. programming languages, frameworks, hardware</a:t>
            </a:r>
            <a:r>
              <a:rPr lang="en-US" sz="235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)</a:t>
            </a:r>
          </a:p>
          <a:p>
            <a:pPr algn="l" marL="486696" indent="-243348" lvl="1">
              <a:lnSpc>
                <a:spcPts val="4508"/>
              </a:lnSpc>
              <a:buFont typeface="Arial"/>
              <a:buChar char="•"/>
            </a:pPr>
            <a:r>
              <a:rPr lang="en-US" sz="225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Programming Languages: Python, C#, Arduino.</a:t>
            </a:r>
          </a:p>
          <a:p>
            <a:pPr algn="l" marL="486696" indent="-243348" lvl="1">
              <a:lnSpc>
                <a:spcPts val="4508"/>
              </a:lnSpc>
              <a:buFont typeface="Arial"/>
              <a:buChar char="•"/>
            </a:pPr>
            <a:r>
              <a:rPr lang="en-US" sz="225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Frameworks &amp; Tools: ESP-IDF / ESP32 Arduino Framework, QML, Groq LLM Framework, FAST Framework.</a:t>
            </a:r>
          </a:p>
          <a:p>
            <a:pPr algn="l" marL="486696" indent="-243348" lvl="1">
              <a:lnSpc>
                <a:spcPts val="4508"/>
              </a:lnSpc>
              <a:buFont typeface="Arial"/>
              <a:buChar char="•"/>
            </a:pPr>
            <a:r>
              <a:rPr lang="en-US" sz="225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IoT Hardware (Vehicle):  ESP32/Arduino NANO, GPS module, accelerometer, battery sensor.</a:t>
            </a:r>
          </a:p>
          <a:p>
            <a:pPr algn="l" marL="486696" indent="-243348" lvl="1">
              <a:lnSpc>
                <a:spcPts val="4508"/>
              </a:lnSpc>
              <a:buFont typeface="Arial"/>
              <a:buChar char="•"/>
            </a:pPr>
            <a:r>
              <a:rPr lang="en-US" sz="225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Networking: Wi-Fi/ESP, DTN (store–carry–forward), REST APIs, DSRC, IEEE.801.p.</a:t>
            </a:r>
          </a:p>
          <a:p>
            <a:pPr algn="l" marL="486696" indent="-243348" lvl="1">
              <a:lnSpc>
                <a:spcPts val="4508"/>
              </a:lnSpc>
              <a:buFont typeface="Arial"/>
              <a:buChar char="•"/>
            </a:pPr>
            <a:r>
              <a:rPr lang="en-US" sz="225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Services: LLM API.</a:t>
            </a:r>
          </a:p>
          <a:p>
            <a:pPr algn="l">
              <a:lnSpc>
                <a:spcPts val="4708"/>
              </a:lnSpc>
            </a:pPr>
            <a:r>
              <a:rPr lang="en-US" sz="235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Methodology and process for implementation (Flow Charts/Images/ working prototype)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5487071" y="0"/>
            <a:ext cx="2800929" cy="2648151"/>
          </a:xfrm>
          <a:custGeom>
            <a:avLst/>
            <a:gdLst/>
            <a:ahLst/>
            <a:cxnLst/>
            <a:rect r="r" b="b" t="t" l="l"/>
            <a:pathLst>
              <a:path h="2648151" w="2800929">
                <a:moveTo>
                  <a:pt x="0" y="0"/>
                </a:moveTo>
                <a:lnTo>
                  <a:pt x="2800929" y="0"/>
                </a:lnTo>
                <a:lnTo>
                  <a:pt x="2800929" y="2648151"/>
                </a:lnTo>
                <a:lnTo>
                  <a:pt x="0" y="264815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175641" y="9879254"/>
            <a:ext cx="1044988" cy="304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5"/>
              </a:lnSpc>
            </a:pPr>
            <a:r>
              <a:rPr lang="en-US" sz="1518" b="true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Page 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92861" y="39824"/>
            <a:ext cx="3902269" cy="682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Technical Details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80480"/>
            <a:ext cx="18288000" cy="1094804"/>
          </a:xfrm>
          <a:custGeom>
            <a:avLst/>
            <a:gdLst/>
            <a:ahLst/>
            <a:cxnLst/>
            <a:rect r="r" b="b" t="t" l="l"/>
            <a:pathLst>
              <a:path h="1094804" w="18288000">
                <a:moveTo>
                  <a:pt x="0" y="0"/>
                </a:moveTo>
                <a:lnTo>
                  <a:pt x="18288000" y="0"/>
                </a:lnTo>
                <a:lnTo>
                  <a:pt x="18288000" y="1094804"/>
                </a:lnTo>
                <a:lnTo>
                  <a:pt x="0" y="1094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9637871"/>
            <a:ext cx="18258234" cy="649129"/>
          </a:xfrm>
          <a:custGeom>
            <a:avLst/>
            <a:gdLst/>
            <a:ahLst/>
            <a:cxnLst/>
            <a:rect r="r" b="b" t="t" l="l"/>
            <a:pathLst>
              <a:path h="649129" w="18258234">
                <a:moveTo>
                  <a:pt x="0" y="0"/>
                </a:moveTo>
                <a:lnTo>
                  <a:pt x="18258234" y="0"/>
                </a:lnTo>
                <a:lnTo>
                  <a:pt x="18258234" y="649129"/>
                </a:lnTo>
                <a:lnTo>
                  <a:pt x="0" y="6491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72480" y="828675"/>
            <a:ext cx="18200604" cy="3748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8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1. Feasibility Analysis </a:t>
            </a:r>
          </a:p>
          <a:p>
            <a:pPr algn="l" marL="518160" indent="-259080" lvl="1">
              <a:lnSpc>
                <a:spcPts val="5088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Technical Viability: The solution leverages mature Transformer architectures (LLMs) for high-accuracy intent detection and commercially available ESP32/WiFi modules for low-cost ($5/node) mesh implementation.</a:t>
            </a:r>
          </a:p>
          <a:p>
            <a:pPr algn="l" marL="518160" indent="-259080" lvl="1">
              <a:lnSpc>
                <a:spcPts val="5088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Operational Viability: The decentralized V2I (Vehicle-to-Infrastructure) model reduces dependency on centralized cellular towers, ensuring operational continuity in critical Indian highway sectors.</a:t>
            </a:r>
          </a:p>
          <a:p>
            <a:pPr algn="l">
              <a:lnSpc>
                <a:spcPts val="5088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5243112" y="4448594"/>
            <a:ext cx="7801813" cy="1592875"/>
            <a:chOff x="0" y="0"/>
            <a:chExt cx="10402418" cy="212383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402443" cy="2123821"/>
            </a:xfrm>
            <a:custGeom>
              <a:avLst/>
              <a:gdLst/>
              <a:ahLst/>
              <a:cxnLst/>
              <a:rect r="r" b="b" t="t" l="l"/>
              <a:pathLst>
                <a:path h="2123821" w="10402443">
                  <a:moveTo>
                    <a:pt x="0" y="0"/>
                  </a:moveTo>
                  <a:lnTo>
                    <a:pt x="10402443" y="0"/>
                  </a:lnTo>
                  <a:lnTo>
                    <a:pt x="10402443" y="2123821"/>
                  </a:lnTo>
                  <a:lnTo>
                    <a:pt x="0" y="21238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14000"/>
              </a:blip>
              <a:stretch>
                <a:fillRect l="0" t="-87755" r="0" b="-87755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3738888" y="3972423"/>
            <a:ext cx="10780458" cy="5665448"/>
          </a:xfrm>
          <a:custGeom>
            <a:avLst/>
            <a:gdLst/>
            <a:ahLst/>
            <a:cxnLst/>
            <a:rect r="r" b="b" t="t" l="l"/>
            <a:pathLst>
              <a:path h="5665448" w="10780458">
                <a:moveTo>
                  <a:pt x="0" y="0"/>
                </a:moveTo>
                <a:lnTo>
                  <a:pt x="10780458" y="0"/>
                </a:lnTo>
                <a:lnTo>
                  <a:pt x="10780458" y="5665448"/>
                </a:lnTo>
                <a:lnTo>
                  <a:pt x="0" y="56654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564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175641" y="9879254"/>
            <a:ext cx="1044988" cy="304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5"/>
              </a:lnSpc>
            </a:pPr>
            <a:r>
              <a:rPr lang="en-US" sz="1518" b="true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Page 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45697" y="39824"/>
            <a:ext cx="4996605" cy="682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Feasibility &amp; Viability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80480"/>
            <a:ext cx="18288000" cy="1094804"/>
          </a:xfrm>
          <a:custGeom>
            <a:avLst/>
            <a:gdLst/>
            <a:ahLst/>
            <a:cxnLst/>
            <a:rect r="r" b="b" t="t" l="l"/>
            <a:pathLst>
              <a:path h="1094804" w="18288000">
                <a:moveTo>
                  <a:pt x="0" y="0"/>
                </a:moveTo>
                <a:lnTo>
                  <a:pt x="18288000" y="0"/>
                </a:lnTo>
                <a:lnTo>
                  <a:pt x="18288000" y="1094804"/>
                </a:lnTo>
                <a:lnTo>
                  <a:pt x="0" y="1094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9637871"/>
            <a:ext cx="18258234" cy="649129"/>
          </a:xfrm>
          <a:custGeom>
            <a:avLst/>
            <a:gdLst/>
            <a:ahLst/>
            <a:cxnLst/>
            <a:rect r="r" b="b" t="t" l="l"/>
            <a:pathLst>
              <a:path h="649129" w="18258234">
                <a:moveTo>
                  <a:pt x="0" y="0"/>
                </a:moveTo>
                <a:lnTo>
                  <a:pt x="18258234" y="0"/>
                </a:lnTo>
                <a:lnTo>
                  <a:pt x="18258234" y="649129"/>
                </a:lnTo>
                <a:lnTo>
                  <a:pt x="0" y="6491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243112" y="4448594"/>
            <a:ext cx="7801813" cy="1592875"/>
            <a:chOff x="0" y="0"/>
            <a:chExt cx="10402418" cy="21238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02443" cy="2123821"/>
            </a:xfrm>
            <a:custGeom>
              <a:avLst/>
              <a:gdLst/>
              <a:ahLst/>
              <a:cxnLst/>
              <a:rect r="r" b="b" t="t" l="l"/>
              <a:pathLst>
                <a:path h="2123821" w="10402443">
                  <a:moveTo>
                    <a:pt x="0" y="0"/>
                  </a:moveTo>
                  <a:lnTo>
                    <a:pt x="10402443" y="0"/>
                  </a:lnTo>
                  <a:lnTo>
                    <a:pt x="10402443" y="2123821"/>
                  </a:lnTo>
                  <a:lnTo>
                    <a:pt x="0" y="21238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14000"/>
              </a:blip>
              <a:stretch>
                <a:fillRect l="0" t="-45436" r="0" b="-45437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6504139" y="0"/>
            <a:ext cx="1754095" cy="1884282"/>
          </a:xfrm>
          <a:custGeom>
            <a:avLst/>
            <a:gdLst/>
            <a:ahLst/>
            <a:cxnLst/>
            <a:rect r="r" b="b" t="t" l="l"/>
            <a:pathLst>
              <a:path h="1884282" w="1754095">
                <a:moveTo>
                  <a:pt x="0" y="0"/>
                </a:moveTo>
                <a:lnTo>
                  <a:pt x="1754095" y="0"/>
                </a:lnTo>
                <a:lnTo>
                  <a:pt x="1754095" y="1884282"/>
                </a:lnTo>
                <a:lnTo>
                  <a:pt x="0" y="188428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166116" y="9879254"/>
            <a:ext cx="1044988" cy="304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5"/>
              </a:lnSpc>
            </a:pPr>
            <a:r>
              <a:rPr lang="en-US" sz="1518" b="true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Page 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-204023" y="1163433"/>
            <a:ext cx="18258234" cy="7915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0"/>
              </a:lnSpc>
            </a:pPr>
            <a:r>
              <a:rPr lang="en-US" b="true" sz="222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1. </a:t>
            </a:r>
            <a:r>
              <a:rPr lang="en-US" b="true" sz="222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Potential Impact on Target Audience</a:t>
            </a:r>
          </a:p>
          <a:p>
            <a:pPr algn="l" marL="959788" indent="-319929" lvl="2">
              <a:lnSpc>
                <a:spcPts val="5290"/>
              </a:lnSpc>
              <a:buFont typeface="Arial"/>
              <a:buChar char="⚬"/>
            </a:pPr>
            <a:r>
              <a:rPr lang="en-US" sz="222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Reduced Panic &amp; Stress: Drivers can request help naturally ("Help! My car stopped") without struggling with confusing app menus during an emergency.</a:t>
            </a:r>
          </a:p>
          <a:p>
            <a:pPr algn="l" marL="959788" indent="-319929" lvl="2">
              <a:lnSpc>
                <a:spcPts val="5290"/>
              </a:lnSpc>
              <a:buFont typeface="Arial"/>
              <a:buChar char="⚬"/>
            </a:pPr>
            <a:r>
              <a:rPr lang="en-US" sz="222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Safety in Dead Zones: Ensures help reaches users even on remote highways where standard apps fail due to no signal.</a:t>
            </a:r>
          </a:p>
          <a:p>
            <a:pPr algn="l" marL="959788" indent="-319929" lvl="2">
              <a:lnSpc>
                <a:spcPts val="5290"/>
              </a:lnSpc>
              <a:buFont typeface="Arial"/>
              <a:buChar char="⚬"/>
            </a:pPr>
            <a:r>
              <a:rPr lang="en-US" sz="222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Faster Response Time: AI instantly routes the request to the correct provider (Garage vs. Ambulance), saving critical minutes.</a:t>
            </a:r>
          </a:p>
          <a:p>
            <a:pPr algn="l">
              <a:lnSpc>
                <a:spcPts val="5290"/>
              </a:lnSpc>
            </a:pPr>
            <a:r>
              <a:rPr lang="en-US" b="true" sz="222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2. Benefits of the Solution</a:t>
            </a:r>
          </a:p>
          <a:p>
            <a:pPr algn="l" marL="959788" indent="-319929" lvl="2">
              <a:lnSpc>
                <a:spcPts val="5290"/>
              </a:lnSpc>
              <a:buFont typeface="Arial"/>
              <a:buChar char="⚬"/>
            </a:pPr>
            <a:r>
              <a:rPr lang="en-US" sz="222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Social (Safety): Drastically reduces accident response times on highways, potentially saving lives.</a:t>
            </a:r>
          </a:p>
          <a:p>
            <a:pPr algn="l" marL="959788" indent="-319929" lvl="2">
              <a:lnSpc>
                <a:spcPts val="5290"/>
              </a:lnSpc>
              <a:buFont typeface="Arial"/>
              <a:buChar char="⚬"/>
            </a:pPr>
            <a:r>
              <a:rPr lang="en-US" sz="222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Provides a safety net for vulnerable travelers in remote areas.</a:t>
            </a:r>
          </a:p>
          <a:p>
            <a:pPr algn="l" marL="959788" indent="-319929" lvl="2">
              <a:lnSpc>
                <a:spcPts val="5290"/>
              </a:lnSpc>
              <a:buFont typeface="Arial"/>
              <a:buChar char="⚬"/>
            </a:pPr>
            <a:r>
              <a:rPr lang="en-US" sz="222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Economic (Efficiency): Increases revenue for local mechanics by connecting them directly to nearby stranded drivers.</a:t>
            </a:r>
          </a:p>
          <a:p>
            <a:pPr algn="l" marL="959788" indent="-319929" lvl="2">
              <a:lnSpc>
                <a:spcPts val="5290"/>
              </a:lnSpc>
              <a:buFont typeface="Arial"/>
              <a:buChar char="⚬"/>
            </a:pPr>
            <a:r>
              <a:rPr lang="en-US" sz="222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Reduces logistics downtime for trucks and commercial vehicles by speeding up repairs.</a:t>
            </a:r>
          </a:p>
          <a:p>
            <a:pPr algn="l" marL="959788" indent="-319929" lvl="2">
              <a:lnSpc>
                <a:spcPts val="5290"/>
              </a:lnSpc>
              <a:buFont typeface="Arial"/>
              <a:buChar char="⚬"/>
            </a:pPr>
            <a:r>
              <a:rPr lang="en-US" sz="222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Environmental (Sustainability): Smart Routing minimizes unnecessary travel for tow trucks, reducing fuel consumption.</a:t>
            </a:r>
          </a:p>
          <a:p>
            <a:pPr algn="l" marL="959788" indent="-319929" lvl="2">
              <a:lnSpc>
                <a:spcPts val="5290"/>
              </a:lnSpc>
              <a:buFont typeface="Arial"/>
              <a:buChar char="⚬"/>
            </a:pPr>
            <a:r>
              <a:rPr lang="en-US" sz="222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Solar-Powered Nodes ensure the infrastructure is green and energy-efficient.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072694" y="39824"/>
            <a:ext cx="4276830" cy="682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Impacts &amp; Benefits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80480"/>
            <a:ext cx="18288000" cy="1094804"/>
          </a:xfrm>
          <a:custGeom>
            <a:avLst/>
            <a:gdLst/>
            <a:ahLst/>
            <a:cxnLst/>
            <a:rect r="r" b="b" t="t" l="l"/>
            <a:pathLst>
              <a:path h="1094804" w="18288000">
                <a:moveTo>
                  <a:pt x="0" y="0"/>
                </a:moveTo>
                <a:lnTo>
                  <a:pt x="18288000" y="0"/>
                </a:lnTo>
                <a:lnTo>
                  <a:pt x="18288000" y="1094804"/>
                </a:lnTo>
                <a:lnTo>
                  <a:pt x="0" y="1094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9637871"/>
            <a:ext cx="18258234" cy="649129"/>
          </a:xfrm>
          <a:custGeom>
            <a:avLst/>
            <a:gdLst/>
            <a:ahLst/>
            <a:cxnLst/>
            <a:rect r="r" b="b" t="t" l="l"/>
            <a:pathLst>
              <a:path h="649129" w="18258234">
                <a:moveTo>
                  <a:pt x="0" y="0"/>
                </a:moveTo>
                <a:lnTo>
                  <a:pt x="18258234" y="0"/>
                </a:lnTo>
                <a:lnTo>
                  <a:pt x="18258234" y="649129"/>
                </a:lnTo>
                <a:lnTo>
                  <a:pt x="0" y="6491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243112" y="4448594"/>
            <a:ext cx="7801813" cy="1592875"/>
            <a:chOff x="0" y="0"/>
            <a:chExt cx="10402418" cy="21238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02443" cy="2123821"/>
            </a:xfrm>
            <a:custGeom>
              <a:avLst/>
              <a:gdLst/>
              <a:ahLst/>
              <a:cxnLst/>
              <a:rect r="r" b="b" t="t" l="l"/>
              <a:pathLst>
                <a:path h="2123821" w="10402443">
                  <a:moveTo>
                    <a:pt x="0" y="0"/>
                  </a:moveTo>
                  <a:lnTo>
                    <a:pt x="10402443" y="0"/>
                  </a:lnTo>
                  <a:lnTo>
                    <a:pt x="10402443" y="2123821"/>
                  </a:lnTo>
                  <a:lnTo>
                    <a:pt x="0" y="21238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14000"/>
              </a:blip>
              <a:stretch>
                <a:fillRect l="0" t="-45436" r="0" b="-45437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4983717" y="116024"/>
            <a:ext cx="2899481" cy="2926082"/>
          </a:xfrm>
          <a:custGeom>
            <a:avLst/>
            <a:gdLst/>
            <a:ahLst/>
            <a:cxnLst/>
            <a:rect r="r" b="b" t="t" l="l"/>
            <a:pathLst>
              <a:path h="2926082" w="2899481">
                <a:moveTo>
                  <a:pt x="0" y="0"/>
                </a:moveTo>
                <a:lnTo>
                  <a:pt x="2899481" y="0"/>
                </a:lnTo>
                <a:lnTo>
                  <a:pt x="2899481" y="2926082"/>
                </a:lnTo>
                <a:lnTo>
                  <a:pt x="0" y="292608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175641" y="9879254"/>
            <a:ext cx="1044988" cy="304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5"/>
              </a:lnSpc>
            </a:pPr>
            <a:r>
              <a:rPr lang="en-US" sz="1518" b="true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Page 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59514" y="2558439"/>
            <a:ext cx="16882057" cy="4865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27337" indent="-209112" lvl="2">
              <a:lnSpc>
                <a:spcPts val="6531"/>
              </a:lnSpc>
              <a:buFont typeface="Arial"/>
              <a:buChar char="⚬"/>
            </a:pPr>
            <a:r>
              <a:rPr lang="en-US" sz="274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https://www.researchgate.net/publication/395776246_On_Road_Vehicle_Breakdown_Assistance</a:t>
            </a:r>
          </a:p>
          <a:p>
            <a:pPr algn="just" marL="627337" indent="-209112" lvl="2">
              <a:lnSpc>
                <a:spcPts val="6531"/>
              </a:lnSpc>
              <a:buFont typeface="Arial"/>
              <a:buChar char="⚬"/>
            </a:pPr>
            <a:r>
              <a:rPr lang="en-US" sz="274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https://ieeexplore.ieee.org/document/8962283</a:t>
            </a:r>
          </a:p>
          <a:p>
            <a:pPr algn="just" marL="627337" indent="-209112" lvl="2">
              <a:lnSpc>
                <a:spcPts val="6531"/>
              </a:lnSpc>
              <a:buFont typeface="Arial"/>
              <a:buChar char="⚬"/>
            </a:pPr>
            <a:r>
              <a:rPr lang="en-US" sz="274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https://www.researchgate.net/publication/379722899_All_about_Delay Tolerant_Networking_DTN_Contributions_to_Future_Internethttps://ieeexplore.ieee.org/document/8376311</a:t>
            </a:r>
          </a:p>
          <a:p>
            <a:pPr algn="just" marL="627337" indent="-209112" lvl="2">
              <a:lnSpc>
                <a:spcPts val="6531"/>
              </a:lnSpc>
              <a:buFont typeface="Arial"/>
              <a:buChar char="⚬"/>
            </a:pPr>
            <a:r>
              <a:rPr lang="en-US" sz="274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https://ieeexplore.ieee.org/document/8376311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07826" y="39824"/>
            <a:ext cx="5225625" cy="682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Research &amp; References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DAHADF6ic8g</dc:identifier>
  <dcterms:modified xsi:type="dcterms:W3CDTF">2011-08-01T06:04:30Z</dcterms:modified>
  <cp:revision>1</cp:revision>
  <dc:title>AGNI-EK-07</dc:title>
</cp:coreProperties>
</file>